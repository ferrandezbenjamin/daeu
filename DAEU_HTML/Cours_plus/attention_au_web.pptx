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1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12192000" cy="6858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429612" y="1013983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>‹N°›</a:t>
            </a:fld>
            <a:endParaRPr lang="en-US"/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 bwMode="auto"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>‹N°›</a:t>
            </a:fld>
            <a:endParaRPr lang="en-US"/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 bwMode="auto"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 bwMode="auto"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 bwMode="auto"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334000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429566" y="1041620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C2B07E4-CDF9-4C88-A2F3-04620E58224D}" type="datetimeFigureOut">
              <a:rPr lang="en-US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EFE71E98-A417-4ECC-ACEB-C0490C20DB04}" type="slidenum">
              <a:rPr lang="en-US"/>
              <a:t>‹N°›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120000"/>
        </a:lnSpc>
        <a:spcBef>
          <a:spcPts val="0"/>
        </a:spcBef>
        <a:buNone/>
        <a:defRPr sz="2800" b="1" cap="all" spc="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>
        <a:lnSpc>
          <a:spcPct val="130000"/>
        </a:lnSpc>
        <a:spcBef>
          <a:spcPts val="1000"/>
        </a:spcBef>
        <a:buSzPct val="85000"/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>
        <a:lnSpc>
          <a:spcPct val="130000"/>
        </a:lnSpc>
        <a:spcBef>
          <a:spcPts val="500"/>
        </a:spcBef>
        <a:buSzPct val="85000"/>
        <a:buFontTx/>
        <a:buNone/>
        <a:defRPr sz="1600" b="1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>
        <a:lnSpc>
          <a:spcPct val="130000"/>
        </a:lnSpc>
        <a:spcBef>
          <a:spcPts val="500"/>
        </a:spcBef>
        <a:buSzPct val="85000"/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>
        <a:lnSpc>
          <a:spcPct val="130000"/>
        </a:lnSpc>
        <a:spcBef>
          <a:spcPts val="500"/>
        </a:spcBef>
        <a:buSzPct val="85000"/>
        <a:buFontTx/>
        <a:buNone/>
        <a:defRPr sz="1200" b="1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>
        <a:lnSpc>
          <a:spcPct val="130000"/>
        </a:lnSpc>
        <a:spcBef>
          <a:spcPts val="500"/>
        </a:spcBef>
        <a:buSzPct val="85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6" name="Picture 3"/>
          <p:cNvPicPr>
            <a:picLocks noChangeAspect="1"/>
          </p:cNvPicPr>
          <p:nvPr/>
        </p:nvPicPr>
        <p:blipFill>
          <a:blip r:embed="rId2">
            <a:alphaModFix amt="50000"/>
          </a:blip>
          <a:srcRect t="2500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2238258" y="1855862"/>
            <a:ext cx="7714388" cy="163957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fr-FR" sz="6600" dirty="0"/>
              <a:t>Sensibilisation 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2238258" y="4848464"/>
            <a:ext cx="7714388" cy="1085849"/>
          </a:xfrm>
        </p:spPr>
        <p:txBody>
          <a:bodyPr>
            <a:normAutofit/>
          </a:bodyPr>
          <a:lstStyle/>
          <a:p>
            <a:pPr algn="ctr">
              <a:defRPr/>
            </a:pPr>
            <a:endParaRPr/>
          </a:p>
        </p:txBody>
      </p:sp>
      <p:cxnSp>
        <p:nvCxnSpPr>
          <p:cNvPr id="17" name="Straight Connector 1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 bwMode="auto">
          <a:xfrm>
            <a:off x="5609875" y="4578595"/>
            <a:ext cx="971155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ous-titre 2"/>
          <p:cNvSpPr txBox="1"/>
          <p:nvPr/>
        </p:nvSpPr>
        <p:spPr bwMode="auto">
          <a:xfrm>
            <a:off x="74059" y="5914947"/>
            <a:ext cx="4025793" cy="542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30000"/>
              </a:lnSpc>
              <a:spcBef>
                <a:spcPts val="1000"/>
              </a:spcBef>
              <a:buSzPct val="85000"/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/>
              <a:t>Cours en plus</a:t>
            </a:r>
            <a:endParaRPr/>
          </a:p>
        </p:txBody>
      </p:sp>
      <p:sp>
        <p:nvSpPr>
          <p:cNvPr id="6" name="Sous-titre 2"/>
          <p:cNvSpPr txBox="1"/>
          <p:nvPr/>
        </p:nvSpPr>
        <p:spPr bwMode="auto">
          <a:xfrm>
            <a:off x="8092149" y="5914947"/>
            <a:ext cx="4025793" cy="542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30000"/>
              </a:lnSpc>
              <a:spcBef>
                <a:spcPts val="1000"/>
              </a:spcBef>
              <a:buSzPct val="85000"/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/>
              <a:t>FERRANDEZ BENJAMIN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967083" y="1352020"/>
            <a:ext cx="10014478" cy="4153958"/>
          </a:xfrm>
        </p:spPr>
        <p:txBody>
          <a:bodyPr/>
          <a:lstStyle/>
          <a:p>
            <a:pPr>
              <a:defRPr/>
            </a:pPr>
            <a:r>
              <a:rPr lang="fr-FR" sz="2600" b="1" i="0" u="none" strike="noStrike" cap="all" spc="599" dirty="0">
                <a:solidFill>
                  <a:schemeClr val="tx1"/>
                </a:solidFill>
                <a:latin typeface="Trade Gothic Next Cond"/>
                <a:cs typeface="Trade Gothic Next Cond"/>
              </a:rPr>
              <a:t>Aujourd’hui, la plus pars des attaques réussies viennent d’une erreur humaine, pas d’un piratage </a:t>
            </a:r>
            <a:r>
              <a:rPr lang="fr-FR" sz="2600" b="1" i="0" u="none" strike="noStrike" cap="all" spc="599" dirty="0" err="1">
                <a:solidFill>
                  <a:schemeClr val="tx1"/>
                </a:solidFill>
                <a:latin typeface="Trade Gothic Next Cond"/>
                <a:cs typeface="Trade Gothic Next Cond"/>
              </a:rPr>
              <a:t>ultra-complexe</a:t>
            </a:r>
            <a:r>
              <a:rPr lang="fr-FR" sz="2600" b="1" i="0" u="none" strike="noStrike" cap="all" spc="599" dirty="0">
                <a:solidFill>
                  <a:schemeClr val="tx1"/>
                </a:solidFill>
                <a:latin typeface="Trade Gothic Next Cond"/>
                <a:cs typeface="Trade Gothic Next Cond"/>
              </a:rPr>
              <a:t>.</a:t>
            </a:r>
            <a:br>
              <a:rPr lang="fr-FR" sz="2600" b="1" i="0" u="none" strike="noStrike" cap="all" spc="599" dirty="0">
                <a:solidFill>
                  <a:schemeClr val="tx1"/>
                </a:solidFill>
                <a:latin typeface="Trade Gothic Next Cond"/>
                <a:cs typeface="Trade Gothic Next Cond"/>
              </a:rPr>
            </a:br>
            <a:br>
              <a:rPr lang="fr-FR" sz="2600" b="1" i="0" u="none" strike="noStrike" cap="all" spc="599" dirty="0">
                <a:solidFill>
                  <a:schemeClr val="tx1"/>
                </a:solidFill>
                <a:latin typeface="Trade Gothic Next Cond"/>
                <a:cs typeface="Trade Gothic Next Cond"/>
              </a:rPr>
            </a:br>
            <a:r>
              <a:rPr lang="fr-FR" sz="2600" b="1" i="0" u="none" strike="noStrike" cap="all" spc="599" dirty="0">
                <a:solidFill>
                  <a:schemeClr val="tx1"/>
                </a:solidFill>
                <a:latin typeface="Trade Gothic Next Cond"/>
                <a:cs typeface="Trade Gothic Next Cond"/>
              </a:rPr>
              <a:t>L’essentiel sont surtout des pièges, des arnaques, et des manipulations psychologiques.</a:t>
            </a:r>
            <a:endParaRPr sz="2600" b="1" i="0" u="none" strike="noStrike" cap="all" spc="599" dirty="0">
              <a:solidFill>
                <a:schemeClr val="tx1"/>
              </a:solidFill>
              <a:latin typeface="Trade Gothic Next Cond"/>
              <a:cs typeface="Trade Gothic Next C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990124" name="Titre 1"/>
          <p:cNvSpPr>
            <a:spLocks noGrp="1"/>
          </p:cNvSpPr>
          <p:nvPr>
            <p:ph type="title"/>
          </p:nvPr>
        </p:nvSpPr>
        <p:spPr bwMode="auto">
          <a:xfrm>
            <a:off x="1476783" y="2526890"/>
            <a:ext cx="9238434" cy="1435509"/>
          </a:xfrm>
        </p:spPr>
        <p:txBody>
          <a:bodyPr/>
          <a:lstStyle/>
          <a:p>
            <a:pPr algn="ctr">
              <a:defRPr/>
            </a:pPr>
            <a:r>
              <a:rPr lang="fr-FR" sz="6600"/>
              <a:t>Le phising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044262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1215380" name="Titre 1"/>
          <p:cNvSpPr>
            <a:spLocks noGrp="1"/>
          </p:cNvSpPr>
          <p:nvPr>
            <p:ph type="title"/>
          </p:nvPr>
        </p:nvSpPr>
        <p:spPr bwMode="auto">
          <a:xfrm>
            <a:off x="1429565" y="1045444"/>
            <a:ext cx="9238434" cy="85755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dirty="0"/>
              <a:t>Le PHISING : l’attaque la plus courante</a:t>
            </a:r>
            <a:endParaRPr dirty="0"/>
          </a:p>
        </p:txBody>
      </p:sp>
      <p:cxnSp>
        <p:nvCxnSpPr>
          <p:cNvPr id="1312207482" name="Straight Connector 1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 bwMode="auto">
          <a:xfrm>
            <a:off x="1523999" y="2286000"/>
            <a:ext cx="97115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605403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810511" y="2779692"/>
            <a:ext cx="8396455" cy="3325472"/>
          </a:xfrm>
          <a:prstGeom prst="rect">
            <a:avLst/>
          </a:prstGeom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  <a:defRPr/>
            </a:pPr>
            <a:r>
              <a:rPr lang="fr-FR" sz="2400" dirty="0">
                <a:solidFill>
                  <a:srgbClr val="1F1F1F"/>
                </a:solidFill>
                <a:latin typeface="Arial"/>
              </a:rPr>
              <a:t>L'hameçonnage ou phishing est </a:t>
            </a:r>
            <a:r>
              <a:rPr lang="fr-FR" sz="2400" b="1" dirty="0">
                <a:solidFill>
                  <a:srgbClr val="040C28"/>
                </a:solidFill>
                <a:latin typeface="Arial"/>
              </a:rPr>
              <a:t>une forme d'escroquerie sur internet</a:t>
            </a:r>
            <a:r>
              <a:rPr lang="fr-FR" sz="2400" dirty="0">
                <a:solidFill>
                  <a:srgbClr val="1F1F1F"/>
                </a:solidFill>
                <a:latin typeface="Arial"/>
              </a:rPr>
              <a:t>. Le fraudeur se fait passer pour un organisme que vous connaissez (banque, service des impôts, CAF, etc.), en utilisant le logo et le nom de cet organisme.</a:t>
            </a:r>
            <a:endParaRPr lang="fr-FR" sz="2800" dirty="0"/>
          </a:p>
          <a:p>
            <a:pPr marL="0" indent="0">
              <a:buSzPct val="85000"/>
              <a:buFont typeface="Arial"/>
              <a:buNone/>
              <a:defRPr/>
            </a:pPr>
            <a:endParaRPr sz="2400" b="0" i="0" u="none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9160686-4BC2-1623-8435-7CA161C4799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044262" name="Rectangle 8">
            <a:extLst>
              <a:ext uri="{FF2B5EF4-FFF2-40B4-BE49-F238E27FC236}">
                <a16:creationId xmlns:a16="http://schemas.microsoft.com/office/drawing/2014/main" id="{5BF7DB83-3BAB-5006-6AED-DCC15D0AFCB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1215380" name="Titre 1">
            <a:extLst>
              <a:ext uri="{FF2B5EF4-FFF2-40B4-BE49-F238E27FC236}">
                <a16:creationId xmlns:a16="http://schemas.microsoft.com/office/drawing/2014/main" id="{46CF777B-E982-7593-0BC5-240AA51DA1B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429565" y="1045444"/>
            <a:ext cx="9238434" cy="85755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dirty="0">
                <a:solidFill>
                  <a:schemeClr val="bg1"/>
                </a:solidFill>
              </a:rPr>
              <a:t>Comment reconnaître un phishing ?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1312207482" name="Straight Connector 10">
            <a:extLst>
              <a:ext uri="{FF2B5EF4-FFF2-40B4-BE49-F238E27FC236}">
                <a16:creationId xmlns:a16="http://schemas.microsoft.com/office/drawing/2014/main" id="{7CC0FECA-BFAE-E2DE-9020-E6AAD03BCB5A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 bwMode="auto">
          <a:xfrm>
            <a:off x="1523999" y="2286000"/>
            <a:ext cx="97115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6054033" name="Rectangle 1">
            <a:extLst>
              <a:ext uri="{FF2B5EF4-FFF2-40B4-BE49-F238E27FC236}">
                <a16:creationId xmlns:a16="http://schemas.microsoft.com/office/drawing/2014/main" id="{EFD1894E-71AD-9D6D-02EC-DABD8C15BF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5085" y="2487083"/>
            <a:ext cx="8476434" cy="4140729"/>
          </a:xfrm>
          <a:prstGeom prst="rect">
            <a:avLst/>
          </a:prstGeom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SzPct val="85000"/>
              <a:buFont typeface="Arial"/>
              <a:buNone/>
              <a:defRPr/>
            </a:pPr>
            <a:r>
              <a:rPr sz="2400" b="0" i="0" u="none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• </a:t>
            </a:r>
            <a:r>
              <a:rPr sz="2400" b="0" i="0" u="none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Être</a:t>
            </a:r>
            <a:r>
              <a:rPr sz="2400" b="0" i="0" u="none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i="0" u="none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attentif</a:t>
            </a:r>
            <a:endParaRPr sz="2400" b="0" i="0" u="none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  <a:p>
            <a:pPr marL="0" indent="0">
              <a:buSzPct val="85000"/>
              <a:buFont typeface="Arial"/>
              <a:buNone/>
              <a:defRPr/>
            </a:pPr>
            <a:r>
              <a:rPr sz="2400" b="0" i="0" u="none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• </a:t>
            </a:r>
            <a:r>
              <a:rPr lang="fr-FR" sz="2400" b="0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Observer les fautes d’orthographe ou formulation étrange</a:t>
            </a:r>
            <a:endParaRPr sz="2400" b="0" i="0" u="none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  <a:p>
            <a:pPr marL="0" indent="0">
              <a:buSzPct val="85000"/>
              <a:buFont typeface="Arial"/>
              <a:buNone/>
              <a:defRPr/>
            </a:pPr>
            <a:r>
              <a:rPr sz="2400" b="0" i="0" u="none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• </a:t>
            </a:r>
            <a:r>
              <a:rPr lang="fr-FR" sz="2400" b="0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Être prudent avec les pièces jointes inattendues</a:t>
            </a:r>
          </a:p>
          <a:p>
            <a:pPr marL="0" indent="0">
              <a:buNone/>
              <a:defRPr/>
            </a:pPr>
            <a:r>
              <a:rPr lang="fr-FR" sz="2400" dirty="0">
                <a:solidFill>
                  <a:srgbClr val="1F1F1F"/>
                </a:solidFill>
                <a:latin typeface="Arial"/>
              </a:rPr>
              <a:t>• Ne jamais fournir d’informations sensibles</a:t>
            </a:r>
          </a:p>
          <a:p>
            <a:pPr marL="0" indent="0">
              <a:buSzPct val="85000"/>
              <a:buFont typeface="Arial"/>
              <a:buNone/>
              <a:defRPr/>
            </a:pPr>
            <a:endParaRPr sz="2400" b="0" i="0" u="none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600718108" name="Image 1600718107">
            <a:extLst>
              <a:ext uri="{FF2B5EF4-FFF2-40B4-BE49-F238E27FC236}">
                <a16:creationId xmlns:a16="http://schemas.microsoft.com/office/drawing/2014/main" id="{C7D09831-6336-D470-76BD-FEC01B11F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602834" y="5297293"/>
            <a:ext cx="2156353" cy="65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81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907317" name="Titre 1"/>
          <p:cNvSpPr>
            <a:spLocks noGrp="1"/>
          </p:cNvSpPr>
          <p:nvPr>
            <p:ph type="title"/>
          </p:nvPr>
        </p:nvSpPr>
        <p:spPr bwMode="auto">
          <a:xfrm>
            <a:off x="1476783" y="2526890"/>
            <a:ext cx="9238434" cy="1435509"/>
          </a:xfrm>
        </p:spPr>
        <p:txBody>
          <a:bodyPr/>
          <a:lstStyle/>
          <a:p>
            <a:pPr algn="ctr">
              <a:defRPr/>
            </a:pPr>
            <a:r>
              <a:rPr lang="fr-FR" sz="6600"/>
              <a:t>Les mots de passe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848612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7362697" name="Titre 1"/>
          <p:cNvSpPr>
            <a:spLocks noGrp="1"/>
          </p:cNvSpPr>
          <p:nvPr>
            <p:ph type="title"/>
          </p:nvPr>
        </p:nvSpPr>
        <p:spPr bwMode="auto">
          <a:xfrm>
            <a:off x="636354" y="1045444"/>
            <a:ext cx="10900833" cy="85755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 fontScale="90000"/>
          </a:bodyPr>
          <a:lstStyle/>
          <a:p>
            <a:pPr>
              <a:defRPr/>
            </a:pPr>
            <a:r>
              <a:rPr lang="fr-FR"/>
              <a:t>Les mots de passe ; le probleme de tout le monde</a:t>
            </a:r>
            <a:endParaRPr/>
          </a:p>
        </p:txBody>
      </p:sp>
      <p:cxnSp>
        <p:nvCxnSpPr>
          <p:cNvPr id="640666523" name="Straight Connector 1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 bwMode="auto">
          <a:xfrm>
            <a:off x="1523999" y="2286000"/>
            <a:ext cx="97115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971131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9270" y="2531116"/>
            <a:ext cx="10279062" cy="3554300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5000" lnSpcReduction="1000"/>
          </a:bodyPr>
          <a:lstStyle/>
          <a:p>
            <a:pPr>
              <a:buSzPct val="85000"/>
              <a:buFont typeface="Arial"/>
              <a:buChar char="–"/>
              <a:defRPr/>
            </a:pPr>
            <a:r>
              <a:rPr lang="fr-FR" sz="2400" b="1" i="0" u="none" strike="noStrike" cap="none" spc="0">
                <a:solidFill>
                  <a:srgbClr val="1F1F1F"/>
                </a:solidFill>
                <a:latin typeface="Arial"/>
                <a:cs typeface="Arial"/>
              </a:rPr>
              <a:t>Pourquoi « 123456 » ou « Azerty » sont catastrophiques ?</a:t>
            </a:r>
          </a:p>
          <a:p>
            <a:pPr>
              <a:defRPr/>
            </a:pPr>
            <a:endParaRPr sz="1800" b="1"/>
          </a:p>
          <a:p>
            <a:pPr>
              <a:defRPr/>
            </a:pPr>
            <a:endParaRPr sz="1800" b="1"/>
          </a:p>
          <a:p>
            <a:pPr>
              <a:defRPr/>
            </a:pPr>
            <a:endParaRPr sz="1800" b="1"/>
          </a:p>
          <a:p>
            <a:pPr>
              <a:defRPr/>
            </a:pPr>
            <a:endParaRPr sz="1800" b="1"/>
          </a:p>
          <a:p>
            <a:pPr>
              <a:buSzPct val="85000"/>
              <a:buFont typeface="Arial"/>
              <a:buChar char="–"/>
              <a:defRPr/>
            </a:pPr>
            <a:r>
              <a:rPr lang="fr-FR" sz="2400" b="1" i="0" u="none" strike="noStrike" cap="none" spc="0">
                <a:solidFill>
                  <a:srgbClr val="1F1F1F"/>
                </a:solidFill>
                <a:latin typeface="Arial"/>
                <a:cs typeface="Arial"/>
              </a:rPr>
              <a:t>Pourquoi réutiliser le même mot de passe partout est dangereux</a:t>
            </a:r>
            <a:endParaRPr sz="2400" b="1" i="0" u="none" strike="noStrike" cap="none" spc="0">
              <a:solidFill>
                <a:srgbClr val="1F1F1F"/>
              </a:solidFill>
              <a:latin typeface="Arial"/>
              <a:cs typeface="Arial"/>
            </a:endParaRPr>
          </a:p>
          <a:p>
            <a:pPr marL="0" indent="0">
              <a:buSzPct val="85000"/>
              <a:buFont typeface="Arial"/>
              <a:buNone/>
              <a:defRPr/>
            </a:pPr>
            <a:endParaRPr sz="2400" b="1" i="0" u="none" strike="noStrike" cap="none" spc="0">
              <a:solidFill>
                <a:srgbClr val="1F1F1F"/>
              </a:solidFill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012506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5095765" name="Titre 1"/>
          <p:cNvSpPr>
            <a:spLocks noGrp="1"/>
          </p:cNvSpPr>
          <p:nvPr>
            <p:ph type="title"/>
          </p:nvPr>
        </p:nvSpPr>
        <p:spPr bwMode="auto">
          <a:xfrm>
            <a:off x="1429564" y="373628"/>
            <a:ext cx="9238434" cy="85755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dirty="0"/>
              <a:t>Solution : gestionnaire de mot de passe</a:t>
            </a:r>
            <a:endParaRPr dirty="0"/>
          </a:p>
        </p:txBody>
      </p:sp>
      <p:cxnSp>
        <p:nvCxnSpPr>
          <p:cNvPr id="637348010" name="Straight Connector 1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 bwMode="auto">
          <a:xfrm>
            <a:off x="1523999" y="2286000"/>
            <a:ext cx="97115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0971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29564" y="1350877"/>
            <a:ext cx="8476434" cy="3359620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indent="0">
              <a:buSzPct val="85000"/>
              <a:buFont typeface="Arial"/>
              <a:buNone/>
              <a:defRPr/>
            </a:pPr>
            <a:r>
              <a:rPr lang="fr-FR" sz="2400" b="0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Un gestionnaire de mots de passe est un outil qui stocke tous les mots de passe en sécurité dans un coffre-fort numérique.</a:t>
            </a:r>
          </a:p>
          <a:p>
            <a:pPr marL="0" indent="0">
              <a:buSzPct val="85000"/>
              <a:buFont typeface="Arial"/>
              <a:buNone/>
              <a:defRPr/>
            </a:pPr>
            <a:r>
              <a:rPr lang="fr-FR" sz="2400" b="0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Un mot de passe « maitre », le gestionnaire s’occupe du reste.</a:t>
            </a:r>
          </a:p>
          <a:p>
            <a:pPr marL="0" indent="0">
              <a:buSzPct val="85000"/>
              <a:buFont typeface="Arial"/>
              <a:buNone/>
              <a:defRPr/>
            </a:pPr>
            <a:endParaRPr sz="2800" dirty="0"/>
          </a:p>
        </p:txBody>
      </p:sp>
      <p:pic>
        <p:nvPicPr>
          <p:cNvPr id="1700826367" name="Image 170082636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52089" y="5014960"/>
            <a:ext cx="1843609" cy="1158220"/>
          </a:xfrm>
          <a:prstGeom prst="rect">
            <a:avLst/>
          </a:prstGeom>
        </p:spPr>
      </p:pic>
      <p:pic>
        <p:nvPicPr>
          <p:cNvPr id="713993644" name="Image 71399364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48470" y="4151260"/>
            <a:ext cx="2684259" cy="1172502"/>
          </a:xfrm>
          <a:prstGeom prst="rect">
            <a:avLst/>
          </a:prstGeom>
        </p:spPr>
      </p:pic>
      <p:pic>
        <p:nvPicPr>
          <p:cNvPr id="187890695" name="Image 18789069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757486" y="5149140"/>
            <a:ext cx="2098237" cy="1439286"/>
          </a:xfrm>
          <a:prstGeom prst="rect">
            <a:avLst/>
          </a:prstGeom>
        </p:spPr>
      </p:pic>
      <p:pic>
        <p:nvPicPr>
          <p:cNvPr id="488642097" name="Image 48864209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249586" y="3672363"/>
            <a:ext cx="2703195" cy="174624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1476783" y="2526891"/>
            <a:ext cx="9238434" cy="1435510"/>
          </a:xfrm>
        </p:spPr>
        <p:txBody>
          <a:bodyPr/>
          <a:lstStyle/>
          <a:p>
            <a:pPr algn="ctr">
              <a:defRPr/>
            </a:pPr>
            <a:r>
              <a:rPr lang="fr-FR" sz="6600"/>
              <a:t>LES mises à jours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290860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58531643" name="Titre 1"/>
          <p:cNvSpPr>
            <a:spLocks noGrp="1"/>
          </p:cNvSpPr>
          <p:nvPr>
            <p:ph type="title"/>
          </p:nvPr>
        </p:nvSpPr>
        <p:spPr bwMode="auto">
          <a:xfrm>
            <a:off x="2235369" y="591664"/>
            <a:ext cx="7721262" cy="85755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>
              <a:defRPr/>
            </a:pPr>
            <a:r>
              <a:rPr lang="fr-FR" dirty="0"/>
              <a:t>Correction de faille de sécurité</a:t>
            </a:r>
            <a:endParaRPr dirty="0"/>
          </a:p>
        </p:txBody>
      </p:sp>
      <p:cxnSp>
        <p:nvCxnSpPr>
          <p:cNvPr id="719319296" name="Straight Connector 1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 bwMode="auto">
          <a:xfrm>
            <a:off x="1523998" y="2286000"/>
            <a:ext cx="97115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9254011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56469" y="2286000"/>
            <a:ext cx="10279062" cy="3964404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7500" lnSpcReduction="12000"/>
          </a:bodyPr>
          <a:lstStyle/>
          <a:p>
            <a:pPr marL="0" indent="0">
              <a:buSzPct val="85000"/>
              <a:buNone/>
              <a:defRPr/>
            </a:pPr>
            <a:r>
              <a:rPr lang="fr-FR" sz="2300" b="1" dirty="0">
                <a:solidFill>
                  <a:srgbClr val="1F1F1F"/>
                </a:solidFill>
                <a:latin typeface="Arial"/>
                <a:cs typeface="Arial"/>
              </a:rPr>
              <a:t>Les pirates recherchent constamment des “portes ouvertes”. Quand une faille est identifiée, les équipes techniques l’examinent, développent un correctif, le testent, puis diffusent une mise à jour pour protéger les utilisateurs.</a:t>
            </a:r>
          </a:p>
          <a:p>
            <a:pPr marL="0" indent="0">
              <a:buSzPct val="85000"/>
              <a:buNone/>
              <a:defRPr/>
            </a:pPr>
            <a:endParaRPr lang="fr-FR" sz="2300" b="1" i="0" u="none" strike="noStrike" cap="none" spc="0" dirty="0">
              <a:solidFill>
                <a:srgbClr val="1F1F1F"/>
              </a:solidFill>
              <a:latin typeface="Arial"/>
              <a:cs typeface="Arial"/>
            </a:endParaRPr>
          </a:p>
          <a:p>
            <a:pPr>
              <a:buSzPct val="85000"/>
              <a:buFont typeface="Arial"/>
              <a:buChar char="–"/>
              <a:defRPr/>
            </a:pP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CVE – Common </a:t>
            </a:r>
            <a:r>
              <a:rPr lang="fr-FR" sz="2300" b="1" i="0" u="none" strike="noStrike" cap="none" spc="0" dirty="0" err="1">
                <a:solidFill>
                  <a:srgbClr val="1F1F1F"/>
                </a:solidFill>
                <a:latin typeface="Arial"/>
                <a:cs typeface="Arial"/>
              </a:rPr>
              <a:t>Vulnerabilities</a:t>
            </a: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 and </a:t>
            </a:r>
            <a:r>
              <a:rPr lang="fr-FR" sz="2300" b="1" i="0" u="none" strike="noStrike" cap="none" spc="0" dirty="0" err="1">
                <a:solidFill>
                  <a:srgbClr val="1F1F1F"/>
                </a:solidFill>
                <a:latin typeface="Arial"/>
                <a:cs typeface="Arial"/>
              </a:rPr>
              <a:t>Exposures</a:t>
            </a:r>
            <a:endParaRPr lang="fr-FR" sz="2300" b="1" i="0" u="none" strike="noStrike" cap="none" spc="0" dirty="0">
              <a:solidFill>
                <a:srgbClr val="1F1F1F"/>
              </a:solidFill>
              <a:latin typeface="Arial"/>
              <a:cs typeface="Arial"/>
            </a:endParaRPr>
          </a:p>
          <a:p>
            <a:pPr lvl="3">
              <a:defRPr/>
            </a:pP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	</a:t>
            </a:r>
            <a:r>
              <a:rPr lang="fr-FR" sz="22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Il est géré par MITRE, et c’est la base de référence mondiale pour les 	vulnérabilités.</a:t>
            </a: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https://www.cve.org/</a:t>
            </a:r>
            <a:endParaRPr sz="2300" b="1" i="0" u="none" strike="noStrike" cap="none" spc="0" dirty="0">
              <a:solidFill>
                <a:srgbClr val="1F1F1F"/>
              </a:solidFill>
              <a:latin typeface="Arial"/>
              <a:cs typeface="Arial"/>
            </a:endParaRPr>
          </a:p>
          <a:p>
            <a:pPr marL="0" indent="0">
              <a:buSzPct val="85000"/>
              <a:buFont typeface="Arial"/>
              <a:buNone/>
              <a:defRPr/>
            </a:pPr>
            <a:endParaRPr lang="fr-FR" sz="2300" b="1" i="0" u="none" strike="noStrike" cap="none" spc="0" dirty="0">
              <a:solidFill>
                <a:srgbClr val="1F1F1F"/>
              </a:solidFill>
              <a:latin typeface="Arial"/>
              <a:cs typeface="Arial"/>
            </a:endParaRPr>
          </a:p>
          <a:p>
            <a:pPr>
              <a:buSzPct val="85000"/>
              <a:buFont typeface="Arial"/>
              <a:buChar char="–"/>
              <a:defRPr/>
            </a:pPr>
            <a:endParaRPr lang="fr-FR" sz="2400" b="1" i="0" u="none" strike="noStrike" cap="none" spc="0" dirty="0">
              <a:solidFill>
                <a:srgbClr val="1F1F1F"/>
              </a:solidFill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319925" name="Titre 1"/>
          <p:cNvSpPr>
            <a:spLocks noGrp="1"/>
          </p:cNvSpPr>
          <p:nvPr>
            <p:ph type="title"/>
          </p:nvPr>
        </p:nvSpPr>
        <p:spPr bwMode="auto">
          <a:xfrm>
            <a:off x="1476783" y="2526890"/>
            <a:ext cx="9238434" cy="1435509"/>
          </a:xfrm>
        </p:spPr>
        <p:txBody>
          <a:bodyPr/>
          <a:lstStyle/>
          <a:p>
            <a:pPr algn="ctr">
              <a:defRPr/>
            </a:pPr>
            <a:r>
              <a:rPr lang="fr-FR" sz="6600" b="1" i="0" u="none" strike="noStrike" cap="all" spc="599">
                <a:solidFill>
                  <a:schemeClr val="tx1"/>
                </a:solidFill>
                <a:latin typeface="Trade Gothic Next Cond"/>
                <a:cs typeface="Trade Gothic Next Cond"/>
              </a:rPr>
              <a:t>Les Wi-Fi publics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055223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27204642" name="Titre 1"/>
          <p:cNvSpPr>
            <a:spLocks noGrp="1"/>
          </p:cNvSpPr>
          <p:nvPr>
            <p:ph type="title"/>
          </p:nvPr>
        </p:nvSpPr>
        <p:spPr bwMode="auto">
          <a:xfrm>
            <a:off x="2574883" y="591664"/>
            <a:ext cx="8013870" cy="85755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>
              <a:defRPr/>
            </a:pPr>
            <a:r>
              <a:rPr dirty="0"/>
              <a:t>Les </a:t>
            </a:r>
            <a:r>
              <a:rPr dirty="0" err="1"/>
              <a:t>wifi</a:t>
            </a:r>
            <a:r>
              <a:rPr dirty="0"/>
              <a:t> publics : on </a:t>
            </a:r>
            <a:r>
              <a:rPr dirty="0" err="1"/>
              <a:t>oublie</a:t>
            </a:r>
            <a:endParaRPr dirty="0"/>
          </a:p>
        </p:txBody>
      </p:sp>
      <p:cxnSp>
        <p:nvCxnSpPr>
          <p:cNvPr id="1550455643" name="Straight Connector 1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 bwMode="auto">
          <a:xfrm>
            <a:off x="1523998" y="2286000"/>
            <a:ext cx="97115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407606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9269" y="2531115"/>
            <a:ext cx="10279062" cy="3964403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0000" lnSpcReduction="2000"/>
          </a:bodyPr>
          <a:lstStyle/>
          <a:p>
            <a:pPr>
              <a:buSzPct val="85000"/>
              <a:buFont typeface="Arial"/>
              <a:buChar char="–"/>
              <a:defRPr/>
            </a:pPr>
            <a:r>
              <a:rPr lang="fr-FR" sz="2300" b="1" i="0" u="none" strike="noStrike" cap="none" spc="0">
                <a:solidFill>
                  <a:srgbClr val="1F1F1F"/>
                </a:solidFill>
                <a:latin typeface="Arial"/>
                <a:cs typeface="Arial"/>
              </a:rPr>
              <a:t>Se connecter à un Wi-Fi gratuit (café, gare, hôtel…) peut sembler pratique, mais ça peut être dangereux. Un pirate peut intercepter tes données ou te faire visiter de faux sites.</a:t>
            </a:r>
          </a:p>
          <a:p>
            <a:pPr marL="0" indent="0">
              <a:buSzPct val="85000"/>
              <a:buFont typeface="Arial"/>
              <a:buNone/>
              <a:defRPr/>
            </a:pPr>
            <a:endParaRPr lang="fr-FR" sz="2300" b="1" i="0" u="none" strike="noStrike" cap="none" spc="0">
              <a:solidFill>
                <a:srgbClr val="1F1F1F"/>
              </a:solidFill>
              <a:latin typeface="Arial"/>
              <a:cs typeface="Arial"/>
            </a:endParaRPr>
          </a:p>
          <a:p>
            <a:pPr>
              <a:buSzPct val="85000"/>
              <a:buFont typeface="Arial"/>
              <a:buChar char="–"/>
              <a:defRPr/>
            </a:pPr>
            <a:r>
              <a:rPr lang="fr-FR" sz="2300" b="1" i="0" u="none" strike="noStrike" cap="none" spc="0">
                <a:solidFill>
                  <a:srgbClr val="1F1F1F"/>
                </a:solidFill>
                <a:latin typeface="Arial"/>
                <a:cs typeface="Arial"/>
              </a:rPr>
              <a:t>Faux Wi-Fi (« Evil Twin ») : un pirate crée un réseau avec le même nom que le Wi-Fi public et attend que tu te connectes.</a:t>
            </a:r>
          </a:p>
          <a:p>
            <a:pPr marL="0" indent="0">
              <a:buSzPct val="85000"/>
              <a:buFont typeface="Arial"/>
              <a:buNone/>
              <a:defRPr/>
            </a:pPr>
            <a:endParaRPr lang="fr-FR" sz="2300" b="1" i="0" u="none" strike="noStrike" cap="none" spc="0">
              <a:solidFill>
                <a:srgbClr val="1F1F1F"/>
              </a:solidFill>
              <a:latin typeface="Arial"/>
              <a:cs typeface="Arial"/>
            </a:endParaRPr>
          </a:p>
          <a:p>
            <a:pPr>
              <a:buSzPct val="85000"/>
              <a:buFont typeface="Arial"/>
              <a:buChar char="–"/>
              <a:defRPr/>
            </a:pPr>
            <a:endParaRPr lang="fr-FR" sz="2400" b="1" i="0" u="none" strike="noStrike" cap="none" spc="0">
              <a:solidFill>
                <a:srgbClr val="1F1F1F"/>
              </a:solidFill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735058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8208138" name="Titre 1"/>
          <p:cNvSpPr>
            <a:spLocks noGrp="1"/>
          </p:cNvSpPr>
          <p:nvPr>
            <p:ph type="title"/>
          </p:nvPr>
        </p:nvSpPr>
        <p:spPr bwMode="auto">
          <a:xfrm>
            <a:off x="2392003" y="591664"/>
            <a:ext cx="7867566" cy="85755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>
              <a:defRPr/>
            </a:pPr>
            <a:r>
              <a:rPr dirty="0"/>
              <a:t>Le http(s) : Oui </a:t>
            </a:r>
            <a:r>
              <a:rPr dirty="0" err="1"/>
              <a:t>mais</a:t>
            </a:r>
            <a:r>
              <a:rPr dirty="0"/>
              <a:t> attention !</a:t>
            </a:r>
          </a:p>
        </p:txBody>
      </p:sp>
      <p:cxnSp>
        <p:nvCxnSpPr>
          <p:cNvPr id="1637363656" name="Straight Connector 1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 bwMode="auto">
          <a:xfrm>
            <a:off x="1523998" y="2286000"/>
            <a:ext cx="97115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781298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9269" y="2531115"/>
            <a:ext cx="10279062" cy="3964403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buSzPct val="85000"/>
              <a:buFont typeface="Arial"/>
              <a:buChar char="–"/>
              <a:defRPr/>
            </a:pP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Il peut être un site de phishing avec un certificat valide.</a:t>
            </a:r>
          </a:p>
          <a:p>
            <a:pPr>
              <a:buSzPct val="85000"/>
              <a:buFont typeface="Arial"/>
              <a:buChar char="–"/>
              <a:defRPr/>
            </a:pP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Il peut contenir des malwares ou liens douteux !</a:t>
            </a:r>
          </a:p>
          <a:p>
            <a:pPr marL="0" indent="0">
              <a:buSzPct val="85000"/>
              <a:buNone/>
              <a:defRPr/>
            </a:pPr>
            <a:endParaRPr lang="fr-FR" sz="2300" b="1" i="0" u="none" strike="noStrike" cap="none" spc="0" dirty="0">
              <a:solidFill>
                <a:srgbClr val="1F1F1F"/>
              </a:solidFill>
              <a:latin typeface="Arial"/>
              <a:cs typeface="Arial"/>
            </a:endParaRPr>
          </a:p>
          <a:p>
            <a:pPr>
              <a:buSzPct val="85000"/>
              <a:buFont typeface="Arial"/>
              <a:buChar char="–"/>
              <a:defRPr/>
            </a:pP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Le chiffrement protège la transmission, pas la légitimité du site.</a:t>
            </a:r>
          </a:p>
          <a:p>
            <a:pPr>
              <a:buSzPct val="85000"/>
              <a:buFont typeface="Arial"/>
              <a:buChar char="–"/>
              <a:defRPr/>
            </a:pP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Une connexion sécurisée et un site sécurisé, ce n’est pas la même chose</a:t>
            </a:r>
          </a:p>
          <a:p>
            <a:pPr marL="0" indent="0">
              <a:buSzPct val="85000"/>
              <a:buFont typeface="Arial"/>
              <a:buNone/>
              <a:defRPr/>
            </a:pPr>
            <a:endParaRPr lang="fr-FR" sz="2300" b="1" i="0" u="none" strike="noStrike" cap="none" spc="0" dirty="0">
              <a:solidFill>
                <a:srgbClr val="1F1F1F"/>
              </a:solidFill>
              <a:latin typeface="Arial"/>
              <a:cs typeface="Arial"/>
            </a:endParaRPr>
          </a:p>
          <a:p>
            <a:pPr>
              <a:buSzPct val="85000"/>
              <a:buFont typeface="Arial"/>
              <a:buChar char="–"/>
              <a:defRPr/>
            </a:pPr>
            <a:endParaRPr lang="fr-FR" sz="2400" b="1" i="0" u="none" strike="noStrike" cap="none" spc="0" dirty="0">
              <a:solidFill>
                <a:srgbClr val="1F1F1F"/>
              </a:solidFill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142286" name="Titre 1"/>
          <p:cNvSpPr>
            <a:spLocks noGrp="1"/>
          </p:cNvSpPr>
          <p:nvPr>
            <p:ph type="title"/>
          </p:nvPr>
        </p:nvSpPr>
        <p:spPr bwMode="auto">
          <a:xfrm>
            <a:off x="1476783" y="2526890"/>
            <a:ext cx="9238434" cy="1435509"/>
          </a:xfrm>
        </p:spPr>
        <p:txBody>
          <a:bodyPr/>
          <a:lstStyle/>
          <a:p>
            <a:pPr algn="ctr">
              <a:defRPr/>
            </a:pPr>
            <a:r>
              <a:rPr lang="fr-FR" sz="6600" b="1" i="0" u="none" strike="noStrike" cap="all" spc="599">
                <a:solidFill>
                  <a:schemeClr val="tx1"/>
                </a:solidFill>
                <a:latin typeface="Trade Gothic Next Cond"/>
                <a:cs typeface="Trade Gothic Next Cond"/>
              </a:rPr>
              <a:t>LE HTTP(S)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369832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18677379" name="Titre 1"/>
          <p:cNvSpPr>
            <a:spLocks noGrp="1"/>
          </p:cNvSpPr>
          <p:nvPr>
            <p:ph type="title"/>
          </p:nvPr>
        </p:nvSpPr>
        <p:spPr bwMode="auto">
          <a:xfrm>
            <a:off x="1450171" y="591664"/>
            <a:ext cx="9586638" cy="85755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>
              <a:defRPr/>
            </a:pPr>
            <a:r>
              <a:rPr lang="fr-FR" sz="2500" b="1" i="0" u="none" strike="noStrike" cap="all" spc="599" dirty="0">
                <a:solidFill>
                  <a:schemeClr val="tx1"/>
                </a:solidFill>
                <a:latin typeface="Trade Gothic Next Cond"/>
                <a:cs typeface="Trade Gothic Next Cond"/>
              </a:rPr>
              <a:t>HTTPS = chiffrement, pas garantie absolue</a:t>
            </a:r>
            <a:endParaRPr dirty="0"/>
          </a:p>
        </p:txBody>
      </p:sp>
      <p:cxnSp>
        <p:nvCxnSpPr>
          <p:cNvPr id="1544039570" name="Straight Connector 1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 bwMode="auto">
          <a:xfrm>
            <a:off x="1523998" y="2286000"/>
            <a:ext cx="97115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408619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56469" y="2286000"/>
            <a:ext cx="10279062" cy="3964403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13000"/>
          </a:bodyPr>
          <a:lstStyle/>
          <a:p>
            <a:pPr marL="0" indent="0">
              <a:buSzPct val="85000"/>
              <a:buFont typeface="Arial"/>
              <a:buNone/>
              <a:defRPr/>
            </a:pP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✅ Cela signifie que la communication entre ton navigateur et le site est chiffrée.</a:t>
            </a:r>
          </a:p>
          <a:p>
            <a:pPr marL="0" indent="0">
              <a:buSzPct val="85000"/>
              <a:buFont typeface="Arial"/>
              <a:buNone/>
              <a:defRPr/>
            </a:pPr>
            <a:endParaRPr lang="fr-FR" sz="2300" b="1" i="0" u="none" strike="noStrike" cap="none" spc="0" dirty="0">
              <a:solidFill>
                <a:srgbClr val="1F1F1F"/>
              </a:solidFill>
              <a:latin typeface="Arial"/>
              <a:cs typeface="Arial"/>
            </a:endParaRPr>
          </a:p>
          <a:p>
            <a:pPr marL="0" indent="0">
              <a:buSzPct val="85000"/>
              <a:buFont typeface="Arial"/>
              <a:buNone/>
              <a:defRPr/>
            </a:pP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❌ Cela ne garantit pas que le site est légitime.</a:t>
            </a:r>
          </a:p>
          <a:p>
            <a:pPr>
              <a:defRPr/>
            </a:pPr>
            <a:endParaRPr lang="fr-FR" sz="2300" b="1" i="0" u="none" strike="noStrike" cap="none" spc="0" dirty="0">
              <a:solidFill>
                <a:srgbClr val="1F1F1F"/>
              </a:solidFill>
              <a:latin typeface="Arial"/>
              <a:cs typeface="Arial"/>
            </a:endParaRPr>
          </a:p>
          <a:p>
            <a:pPr marL="0" indent="0">
              <a:buSzPct val="85000"/>
              <a:buFont typeface="Arial"/>
              <a:buNone/>
              <a:defRPr/>
            </a:pP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Le site peut être créé par un pirate pour voler tes informations,</a:t>
            </a:r>
          </a:p>
          <a:p>
            <a:pPr marL="0" indent="0">
              <a:buSzPct val="85000"/>
              <a:buFont typeface="Arial"/>
              <a:buNone/>
              <a:defRPr/>
            </a:pPr>
            <a:r>
              <a:rPr lang="fr-FR" sz="2300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Il peut avoir un certificat HTTPS valide, mais être un faux site imitant un site officiel.</a:t>
            </a:r>
          </a:p>
          <a:p>
            <a:pPr>
              <a:buSzPct val="85000"/>
              <a:buFont typeface="Arial"/>
              <a:buChar char="–"/>
              <a:defRPr/>
            </a:pPr>
            <a:endParaRPr lang="fr-FR" sz="2400" b="1" i="0" u="none" strike="noStrike" cap="none" spc="0" dirty="0">
              <a:solidFill>
                <a:srgbClr val="1F1F1F"/>
              </a:solidFill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C7B9CD6-8E35-F04A-EDD8-96FC6C5C116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369832" name="Rectangle 8">
            <a:extLst>
              <a:ext uri="{FF2B5EF4-FFF2-40B4-BE49-F238E27FC236}">
                <a16:creationId xmlns:a16="http://schemas.microsoft.com/office/drawing/2014/main" id="{BD14F413-303B-E6BB-3257-FFD6489F2E0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18677379" name="Titre 1">
            <a:extLst>
              <a:ext uri="{FF2B5EF4-FFF2-40B4-BE49-F238E27FC236}">
                <a16:creationId xmlns:a16="http://schemas.microsoft.com/office/drawing/2014/main" id="{8FBC9AD6-9310-7B10-24F1-55C1FF84AED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76656" y="591664"/>
            <a:ext cx="10360153" cy="85755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 fontScale="90000"/>
          </a:bodyPr>
          <a:lstStyle/>
          <a:p>
            <a:pPr>
              <a:defRPr/>
            </a:pPr>
            <a:r>
              <a:rPr lang="fr-FR" sz="2400" dirty="0">
                <a:solidFill>
                  <a:schemeClr val="bg1"/>
                </a:solidFill>
              </a:rPr>
              <a:t>Pourquoi le voleur peut quand même récupérer mon mot de passe ?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1544039570" name="Straight Connector 10">
            <a:extLst>
              <a:ext uri="{FF2B5EF4-FFF2-40B4-BE49-F238E27FC236}">
                <a16:creationId xmlns:a16="http://schemas.microsoft.com/office/drawing/2014/main" id="{3F5B5945-BBAF-A859-03BF-A27043128CC8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 bwMode="auto">
          <a:xfrm>
            <a:off x="1523998" y="2286000"/>
            <a:ext cx="97115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408619" name="Rectangle 1">
            <a:extLst>
              <a:ext uri="{FF2B5EF4-FFF2-40B4-BE49-F238E27FC236}">
                <a16:creationId xmlns:a16="http://schemas.microsoft.com/office/drawing/2014/main" id="{BB1B7BD8-EED7-81EB-7416-DEE7501336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0899" y="1856232"/>
            <a:ext cx="10279062" cy="4727448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indent="0">
              <a:buSzPct val="85000"/>
              <a:buFont typeface="Arial"/>
              <a:buNone/>
              <a:defRPr/>
            </a:pPr>
            <a:r>
              <a:rPr lang="fr-FR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Le navigateur chiffre les données vers le site… mais le site les reçoit en clair.</a:t>
            </a:r>
          </a:p>
          <a:p>
            <a:pPr marL="0" indent="0">
              <a:buSzPct val="85000"/>
              <a:buFont typeface="Arial"/>
              <a:buNone/>
              <a:defRPr/>
            </a:pPr>
            <a:endParaRPr lang="fr-FR" b="1" i="0" u="none" strike="noStrike" cap="none" spc="0" dirty="0">
              <a:solidFill>
                <a:srgbClr val="1F1F1F"/>
              </a:solidFill>
              <a:latin typeface="Arial"/>
              <a:cs typeface="Arial"/>
            </a:endParaRPr>
          </a:p>
          <a:p>
            <a:pPr marL="457200" indent="-457200">
              <a:buSzPct val="85000"/>
              <a:buAutoNum type="arabicPeriod"/>
              <a:defRPr/>
            </a:pPr>
            <a:r>
              <a:rPr lang="fr-FR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On rentre notre mot de passe.</a:t>
            </a:r>
          </a:p>
          <a:p>
            <a:pPr marL="457200" indent="-457200">
              <a:buSzPct val="85000"/>
              <a:buAutoNum type="arabicPeriod"/>
              <a:defRPr/>
            </a:pPr>
            <a:r>
              <a:rPr lang="fr-FR" b="1" dirty="0">
                <a:solidFill>
                  <a:srgbClr val="1F1F1F"/>
                </a:solidFill>
                <a:latin typeface="Arial"/>
                <a:cs typeface="Arial"/>
              </a:rPr>
              <a:t>Le</a:t>
            </a:r>
            <a:r>
              <a:rPr lang="fr-FR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 navigateur chiffre la requête.</a:t>
            </a:r>
          </a:p>
          <a:p>
            <a:pPr marL="457200" indent="-457200">
              <a:buSzPct val="85000"/>
              <a:buAutoNum type="arabicPeriod"/>
              <a:defRPr/>
            </a:pPr>
            <a:r>
              <a:rPr lang="fr-FR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Le faux site reçoit la requête.</a:t>
            </a:r>
          </a:p>
          <a:p>
            <a:pPr marL="457200" indent="-457200">
              <a:buSzPct val="85000"/>
              <a:buAutoNum type="arabicPeriod"/>
              <a:defRPr/>
            </a:pPr>
            <a:r>
              <a:rPr lang="fr-FR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Comme c’est LUI le destinataire, il décrypte la requête normalement (puisqu’il possède les clés de son propre certificat).</a:t>
            </a:r>
          </a:p>
          <a:p>
            <a:pPr marL="457200" indent="-457200">
              <a:buSzPct val="85000"/>
              <a:buAutoNum type="arabicPeriod"/>
              <a:defRPr/>
            </a:pPr>
            <a:r>
              <a:rPr lang="fr-FR" b="1" i="0" u="none" strike="noStrike" cap="none" spc="0" dirty="0">
                <a:solidFill>
                  <a:srgbClr val="1F1F1F"/>
                </a:solidFill>
                <a:latin typeface="Arial"/>
                <a:cs typeface="Arial"/>
              </a:rPr>
              <a:t>Il voit ton mot de passe en clair.</a:t>
            </a:r>
          </a:p>
        </p:txBody>
      </p:sp>
    </p:spTree>
    <p:extLst>
      <p:ext uri="{BB962C8B-B14F-4D97-AF65-F5344CB8AC3E}">
        <p14:creationId xmlns:p14="http://schemas.microsoft.com/office/powerpoint/2010/main" val="1837838388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Earth">
      <a:majorFont>
        <a:latin typeface="Trade Gothic Next Cond"/>
        <a:ea typeface="Arial"/>
        <a:cs typeface="Arial"/>
      </a:majorFont>
      <a:minorFont>
        <a:latin typeface="Trade Gothic Next Light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559</Words>
  <Application>Microsoft Office PowerPoint</Application>
  <DocSecurity>0</DocSecurity>
  <PresentationFormat>Grand écran</PresentationFormat>
  <Paragraphs>56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Trade Gothic Next Cond</vt:lpstr>
      <vt:lpstr>Trade Gothic Next Light</vt:lpstr>
      <vt:lpstr>PortalVTI</vt:lpstr>
      <vt:lpstr>Sensibilisation </vt:lpstr>
      <vt:lpstr>Aujourd’hui, la plus pars des attaques réussies viennent d’une erreur humaine, pas d’un piratage ultra-complexe.  L’essentiel sont surtout des pièges, des arnaques, et des manipulations psychologiques.</vt:lpstr>
      <vt:lpstr>Le phising</vt:lpstr>
      <vt:lpstr>Le PHISING : l’attaque la plus courante</vt:lpstr>
      <vt:lpstr>Comment reconnaître un phishing ?</vt:lpstr>
      <vt:lpstr>Les mots de passe</vt:lpstr>
      <vt:lpstr>Les mots de passe ; le probleme de tout le monde</vt:lpstr>
      <vt:lpstr>Solution : gestionnaire de mot de passe</vt:lpstr>
      <vt:lpstr>LES mises à jours</vt:lpstr>
      <vt:lpstr>Correction de faille de sécurité</vt:lpstr>
      <vt:lpstr>Les Wi-Fi publics</vt:lpstr>
      <vt:lpstr>Les wifi publics : on oublie</vt:lpstr>
      <vt:lpstr>Le http(s) : Oui mais attention !</vt:lpstr>
      <vt:lpstr>LE HTTP(S)</vt:lpstr>
      <vt:lpstr>HTTPS = chiffrement, pas garantie absolue</vt:lpstr>
      <vt:lpstr>Pourquoi le voleur peut quand même récupérer mon mot de passe 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WEB 5</dc:title>
  <dc:subject/>
  <dc:creator>FERRANDEZ Benjamin</dc:creator>
  <cp:keywords/>
  <dc:description/>
  <cp:lastModifiedBy>Benjamin</cp:lastModifiedBy>
  <cp:revision>18</cp:revision>
  <dcterms:created xsi:type="dcterms:W3CDTF">2024-10-13T11:47:32Z</dcterms:created>
  <dcterms:modified xsi:type="dcterms:W3CDTF">2025-12-04T20:14:26Z</dcterms:modified>
  <cp:category/>
  <dc:identifier/>
  <cp:contentStatus/>
  <dc:language/>
  <cp:version/>
</cp:coreProperties>
</file>